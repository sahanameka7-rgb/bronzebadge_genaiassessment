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7"/>
  </p:notesMasterIdLst>
  <p:sldIdLst>
    <p:sldId id="280" r:id="rId5"/>
    <p:sldId id="277" r:id="rId6"/>
    <p:sldId id="281" r:id="rId7"/>
    <p:sldId id="292" r:id="rId8"/>
    <p:sldId id="301" r:id="rId9"/>
    <p:sldId id="295" r:id="rId10"/>
    <p:sldId id="294" r:id="rId11"/>
    <p:sldId id="296" r:id="rId12"/>
    <p:sldId id="302" r:id="rId13"/>
    <p:sldId id="303" r:id="rId14"/>
    <p:sldId id="297" r:id="rId15"/>
    <p:sldId id="30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25E5076-3810-47DD-B79F-674D7AD40C01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09" autoAdjust="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66E302-901B-4EC5-8063-F4475DEAA8C8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B3765-1535-41FB-A927-AAD2D1E853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152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A32322-E236-FB6A-D4B8-F6D08F4039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l="19567" r="13056" b="32624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6428232" cy="4992624"/>
          </a:xfrm>
        </p:spPr>
        <p:txBody>
          <a:bodyPr wrap="square" anchor="b">
            <a:normAutofit/>
          </a:bodyPr>
          <a:lstStyle>
            <a:lvl1pPr algn="l">
              <a:defRPr sz="54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91272" y="914400"/>
            <a:ext cx="3392424" cy="25146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6483096" cy="316382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258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5669C7-03B9-341C-8E54-929B3B89CB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t="26965" r="31989" b="5024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77256" y="914400"/>
            <a:ext cx="5806440" cy="5129784"/>
          </a:xfrm>
        </p:spPr>
        <p:txBody>
          <a:bodyPr wrap="square" anchor="b">
            <a:normAutofit/>
          </a:bodyPr>
          <a:lstStyle>
            <a:lvl1pPr algn="r">
              <a:defRPr sz="54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A97C257-0C1F-79D6-2080-F863FF7F2D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4927249" cy="49910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81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1392AC-2F17-140B-1676-75B74CAC6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t="15701" r="40485" b="24784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822192"/>
            <a:ext cx="10360152" cy="2221992"/>
          </a:xfrm>
        </p:spPr>
        <p:txBody>
          <a:bodyPr wrap="square" anchor="b">
            <a:normAutofit/>
          </a:bodyPr>
          <a:lstStyle>
            <a:lvl1pPr algn="l">
              <a:defRPr sz="54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03336" y="914400"/>
            <a:ext cx="2880360" cy="2130552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DB65A55A-B3A8-36E5-D327-23E999B961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0"/>
            <a:ext cx="6940296" cy="327355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08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6483096" cy="3163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004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CB9F3A-C4B7-7DED-7AB7-0E1DC0872B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10741" t="4074" r="13612" b="20124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0152" cy="3008376"/>
          </a:xfrm>
        </p:spPr>
        <p:txBody>
          <a:bodyPr wrap="square" anchor="b">
            <a:normAutofit/>
          </a:bodyPr>
          <a:lstStyle>
            <a:lvl1pPr algn="ctr">
              <a:defRPr sz="60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175ECB-7AC9-8B60-1D2A-0DA9D75F9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078224"/>
            <a:ext cx="10360152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88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224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637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512064" indent="-512064">
              <a:spcBef>
                <a:spcPts val="1000"/>
              </a:spcBef>
              <a:buFont typeface="+mj-lt"/>
              <a:buAutoNum type="arabicPeriod"/>
              <a:defRPr/>
            </a:lvl2pPr>
            <a:lvl3pPr marL="1097280" indent="-512064">
              <a:spcBef>
                <a:spcPts val="1000"/>
              </a:spcBef>
              <a:buFont typeface="+mj-lt"/>
              <a:buAutoNum type="alphaLcPeriod"/>
              <a:defRPr/>
            </a:lvl3pPr>
            <a:lvl4pPr marL="1645920" indent="-512064">
              <a:spcBef>
                <a:spcPts val="1000"/>
              </a:spcBef>
              <a:buFont typeface="+mj-lt"/>
              <a:buAutoNum type="arabicParenR"/>
              <a:defRPr/>
            </a:lvl4pPr>
            <a:lvl5pPr marL="2194560" indent="-512064">
              <a:spcBef>
                <a:spcPts val="1000"/>
              </a:spcBef>
              <a:buFont typeface="+mj-lt"/>
              <a:buAutoNum type="alphaLcParenR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224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522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7723F4FA-7ADE-EA52-E869-4842D0C7FC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743200"/>
            <a:ext cx="4764024" cy="31638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12664" y="2743200"/>
            <a:ext cx="5971032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2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017520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272" y="2871216"/>
            <a:ext cx="6812280" cy="3035808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965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6812280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500"/>
              </a:spcBef>
              <a:defRPr/>
            </a:lvl3pPr>
            <a:lvl4pPr marL="1143000">
              <a:spcBef>
                <a:spcPts val="500"/>
              </a:spcBef>
              <a:defRPr/>
            </a:lvl4pPr>
            <a:lvl5pPr marL="1600200">
              <a:spcBef>
                <a:spcPts val="5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75320" y="2743200"/>
            <a:ext cx="2999232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839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871216"/>
            <a:ext cx="10360152" cy="3035808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500"/>
              </a:spcBef>
              <a:defRPr/>
            </a:lvl3pPr>
            <a:lvl4pPr marL="1143000">
              <a:spcBef>
                <a:spcPts val="500"/>
              </a:spcBef>
              <a:defRPr/>
            </a:lvl4pPr>
            <a:lvl5pPr marL="1600200">
              <a:spcBef>
                <a:spcPts val="5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657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468743-342F-6CA4-7BA5-942F2C4C23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1151" t="1794" r="25966" b="25175"/>
          <a:stretch/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5788152" cy="4992624"/>
          </a:xfrm>
        </p:spPr>
        <p:txBody>
          <a:bodyPr wrap="square" anchor="t">
            <a:normAutofit/>
          </a:bodyPr>
          <a:lstStyle>
            <a:lvl1pPr algn="l">
              <a:defRPr sz="60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175ECB-7AC9-8B60-1D2A-0DA9D75F9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9712" y="914400"/>
            <a:ext cx="4434840" cy="4992624"/>
          </a:xfrm>
        </p:spPr>
        <p:txBody>
          <a:bodyPr anchor="b">
            <a:normAutofit/>
          </a:bodyPr>
          <a:lstStyle>
            <a:lvl1pPr marL="0" indent="0" algn="l">
              <a:lnSpc>
                <a:spcPct val="70000"/>
              </a:lnSpc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487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F3310A-1B80-61B0-BFD3-6FD5028944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alphaModFix/>
          </a:blip>
          <a:srcRect l="19567" r="13056" b="32624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D8424F-C2F4-1029-7B75-2B8A9326B3D7}"/>
              </a:ext>
            </a:extLst>
          </p:cNvPr>
          <p:cNvSpPr/>
          <p:nvPr userDrawn="1"/>
        </p:nvSpPr>
        <p:spPr>
          <a:xfrm>
            <a:off x="139700" y="136525"/>
            <a:ext cx="11912600" cy="65849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43200"/>
            <a:ext cx="6483096" cy="3163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8855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0" y="457200"/>
            <a:ext cx="9564624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2760" y="466344"/>
            <a:ext cx="107899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u="sng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0670F10-A7D9-0850-FBA3-0930C575E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9427" y="1699430"/>
            <a:ext cx="6428232" cy="1898745"/>
          </a:xfrm>
        </p:spPr>
        <p:txBody>
          <a:bodyPr>
            <a:normAutofit/>
          </a:bodyPr>
          <a:lstStyle/>
          <a:p>
            <a:r>
              <a:rPr lang="en-US" sz="3200" dirty="0"/>
              <a:t>COPAC: Policy &amp; </a:t>
            </a:r>
            <a:r>
              <a:rPr lang="en-US" sz="3200" dirty="0" err="1"/>
              <a:t>Caims</a:t>
            </a:r>
            <a:r>
              <a:rPr lang="en-US" sz="3200" dirty="0"/>
              <a:t> copilot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9B1D02C-C51E-AC77-2221-624A58631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1272" y="914400"/>
            <a:ext cx="3392424" cy="580030"/>
          </a:xfrm>
        </p:spPr>
        <p:txBody>
          <a:bodyPr/>
          <a:lstStyle/>
          <a:p>
            <a:r>
              <a:rPr lang="en-GB" b="1" dirty="0"/>
              <a:t>P</a:t>
            </a:r>
            <a:r>
              <a:rPr lang="en-US" b="1" dirty="0"/>
              <a:t>resented by: Sahana Vallem</a:t>
            </a:r>
          </a:p>
        </p:txBody>
      </p:sp>
      <p:sp>
        <p:nvSpPr>
          <p:cNvPr id="2" name="Subtitle 6">
            <a:extLst>
              <a:ext uri="{FF2B5EF4-FFF2-40B4-BE49-F238E27FC236}">
                <a16:creationId xmlns:a16="http://schemas.microsoft.com/office/drawing/2014/main" id="{9BFC7664-0907-00B5-5266-627328201596}"/>
              </a:ext>
            </a:extLst>
          </p:cNvPr>
          <p:cNvSpPr txBox="1">
            <a:spLocks/>
          </p:cNvSpPr>
          <p:nvPr/>
        </p:nvSpPr>
        <p:spPr>
          <a:xfrm>
            <a:off x="1151551" y="3803176"/>
            <a:ext cx="10053261" cy="9530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/>
              <a:t>An AI Assistant that gives accurate policy answers and pre checks claim before submission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66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AC2BC53-0CE7-3117-0C3D-9435FF277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15" y="324611"/>
            <a:ext cx="10360152" cy="910511"/>
          </a:xfrm>
        </p:spPr>
        <p:txBody>
          <a:bodyPr/>
          <a:lstStyle/>
          <a:p>
            <a:r>
              <a:rPr lang="en-US" dirty="0"/>
              <a:t>Problem Statement: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5FE201-66E6-9884-8CE5-29160B58E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F3601A2-1153-809A-A08D-4131BD4FF6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1375951"/>
            <a:ext cx="10263116" cy="453107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Use case: </a:t>
            </a:r>
            <a:r>
              <a:rPr lang="en-US" dirty="0"/>
              <a:t>“Policy &amp; Claims Copilot” (Customer support + Claims pre-check)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Goal - Help customers, agents, and claims teams get instant, consistent answers about: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What’s covered / not covered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Limits &amp; sub-limits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Waiting periods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Claim submission steps + timelines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Documents needed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Also do a pre-check of a claim scenario before submission.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reduces call center load, speeds claim filing, and improves first-time-right submissions.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282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39E34-DD2A-50F7-669D-A349E9EEE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1C8E00A-F80C-1E1D-3260-282E028DA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533" y="586854"/>
            <a:ext cx="5511467" cy="1453487"/>
          </a:xfrm>
        </p:spPr>
        <p:txBody>
          <a:bodyPr>
            <a:normAutofit/>
          </a:bodyPr>
          <a:lstStyle/>
          <a:p>
            <a:r>
              <a:rPr lang="en-US" dirty="0"/>
              <a:t>Project Goal: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27942D-B42C-096B-8995-624B27590F85}"/>
              </a:ext>
            </a:extLst>
          </p:cNvPr>
          <p:cNvSpPr txBox="1"/>
          <p:nvPr/>
        </p:nvSpPr>
        <p:spPr>
          <a:xfrm>
            <a:off x="584533" y="2354239"/>
            <a:ext cx="6785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The goal is to build an AI Assistant /Copilot which can help answer customer with all policy related queries and perform a claim-pre check before submission.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7" name="Picture 6" descr="The image depicts a cheerful, cartoon robot mascot wearing headphones, holding a checklist, and surrounded by various documents and awards.&#10;&#10;AI-generated content may be incorrect.">
            <a:extLst>
              <a:ext uri="{FF2B5EF4-FFF2-40B4-BE49-F238E27FC236}">
                <a16:creationId xmlns:a16="http://schemas.microsoft.com/office/drawing/2014/main" id="{044F0825-1A85-3DAE-6E75-E9F697816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048" y="1240015"/>
            <a:ext cx="3903486" cy="378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222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EDFF8-D905-6261-CD85-189A75FC2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445" y="123649"/>
            <a:ext cx="10360152" cy="1282070"/>
          </a:xfrm>
        </p:spPr>
        <p:txBody>
          <a:bodyPr>
            <a:normAutofit/>
          </a:bodyPr>
          <a:lstStyle/>
          <a:p>
            <a:r>
              <a:rPr lang="en-GB" sz="4000" dirty="0"/>
              <a:t>S</a:t>
            </a:r>
            <a:r>
              <a:rPr lang="en-US" sz="4000" dirty="0" err="1"/>
              <a:t>olution</a:t>
            </a:r>
            <a:r>
              <a:rPr lang="en-US" sz="4000" dirty="0"/>
              <a:t> Overview: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E57520-351A-189D-93F0-FE31FF4E22B2}"/>
              </a:ext>
            </a:extLst>
          </p:cNvPr>
          <p:cNvSpPr txBox="1"/>
          <p:nvPr/>
        </p:nvSpPr>
        <p:spPr>
          <a:xfrm>
            <a:off x="723332" y="1801504"/>
            <a:ext cx="100788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copilot is developed to help with hospitalization claims queries and pre-check the claims. This copilot architecture includes the following: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LLM : Open AI (</a:t>
            </a:r>
            <a:r>
              <a:rPr lang="en-GB" b="1" dirty="0">
                <a:solidFill>
                  <a:schemeClr val="bg1"/>
                </a:solidFill>
              </a:rPr>
              <a:t>gpt-5-mini</a:t>
            </a:r>
            <a:r>
              <a:rPr lang="en-GB" dirty="0">
                <a:solidFill>
                  <a:schemeClr val="bg1"/>
                </a:solidFill>
              </a:rPr>
              <a:t>) </a:t>
            </a:r>
          </a:p>
          <a:p>
            <a:r>
              <a:rPr lang="en-GB" dirty="0">
                <a:solidFill>
                  <a:schemeClr val="bg1"/>
                </a:solidFill>
              </a:rPr>
              <a:t>	To understand user query.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Embeddings: Embeddings are created using Open AI Embedding model:</a:t>
            </a:r>
            <a:r>
              <a:rPr lang="en-US" b="1" dirty="0">
                <a:solidFill>
                  <a:schemeClr val="bg1"/>
                </a:solidFill>
              </a:rPr>
              <a:t>text-embedding-3-small</a:t>
            </a:r>
            <a:endParaRPr lang="en-GB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FAISS : META(Facebook AI Similarity Search)</a:t>
            </a:r>
          </a:p>
          <a:p>
            <a:r>
              <a:rPr lang="en-GB" dirty="0">
                <a:solidFill>
                  <a:schemeClr val="bg1"/>
                </a:solidFill>
              </a:rPr>
              <a:t>	</a:t>
            </a:r>
            <a:r>
              <a:rPr lang="en-GB" b="1" dirty="0">
                <a:solidFill>
                  <a:schemeClr val="bg1"/>
                </a:solidFill>
              </a:rPr>
              <a:t>IndexFlatL2</a:t>
            </a:r>
            <a:r>
              <a:rPr lang="en-GB" dirty="0">
                <a:solidFill>
                  <a:schemeClr val="bg1"/>
                </a:solidFill>
              </a:rPr>
              <a:t>: perform Bruce Force Search perform search by comparing each word against all the 	available words. Fast vector 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Metadata: FAISS saves the word vectors in its index. Respective text/chunks need to be stored in order to  retrieve the information. Metadata is where the text/chunks exists.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RAG : Retrieve correct policy text/chunks.</a:t>
            </a:r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146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heck">
          <a:fgClr>
            <a:schemeClr val="tx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BA2EA3-4C13-63E1-775C-3DCD510EE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042AE3-CB25-7234-FA8C-855ECE2F1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654" y="668739"/>
            <a:ext cx="10360152" cy="709684"/>
          </a:xfrm>
        </p:spPr>
        <p:txBody>
          <a:bodyPr/>
          <a:lstStyle/>
          <a:p>
            <a:r>
              <a:rPr lang="en-GB" dirty="0"/>
              <a:t>COPAC(C</a:t>
            </a:r>
            <a:r>
              <a:rPr lang="en-US" dirty="0"/>
              <a:t>o-pilot) Architecture: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63DAB4-B32D-1D46-1DA1-CC32604D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3FC549-3248-9691-C9C6-2E8FEBBA659A}"/>
              </a:ext>
            </a:extLst>
          </p:cNvPr>
          <p:cNvSpPr/>
          <p:nvPr/>
        </p:nvSpPr>
        <p:spPr>
          <a:xfrm>
            <a:off x="1166884" y="2190466"/>
            <a:ext cx="1371600" cy="8120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PDF File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27D69E-2839-9B37-95B9-B7F34130FEF2}"/>
              </a:ext>
            </a:extLst>
          </p:cNvPr>
          <p:cNvSpPr/>
          <p:nvPr/>
        </p:nvSpPr>
        <p:spPr>
          <a:xfrm>
            <a:off x="2834189" y="2190465"/>
            <a:ext cx="1371600" cy="34665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Embedding Model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74F73C-F407-37EF-1E55-C06B41225464}"/>
              </a:ext>
            </a:extLst>
          </p:cNvPr>
          <p:cNvSpPr/>
          <p:nvPr/>
        </p:nvSpPr>
        <p:spPr>
          <a:xfrm>
            <a:off x="4633418" y="2190465"/>
            <a:ext cx="1367051" cy="26681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Vectors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95A91D-362D-0E93-B8D0-0F9E54790AE7}"/>
              </a:ext>
            </a:extLst>
          </p:cNvPr>
          <p:cNvSpPr/>
          <p:nvPr/>
        </p:nvSpPr>
        <p:spPr>
          <a:xfrm>
            <a:off x="6503158" y="2190465"/>
            <a:ext cx="1661425" cy="2913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FAISS(index &amp; Vector). </a:t>
            </a:r>
            <a:r>
              <a:rPr lang="en-GB" dirty="0" err="1"/>
              <a:t>Metadata.Json</a:t>
            </a:r>
            <a:r>
              <a:rPr lang="en-GB" dirty="0"/>
              <a:t>(Text)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BBA589-B752-B445-84BD-9847D6D634C3}"/>
              </a:ext>
            </a:extLst>
          </p:cNvPr>
          <p:cNvSpPr/>
          <p:nvPr/>
        </p:nvSpPr>
        <p:spPr>
          <a:xfrm>
            <a:off x="8993875" y="1866331"/>
            <a:ext cx="1661425" cy="3869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Open AI LLM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1C0FC3A-5433-A862-3282-172517E5C42D}"/>
              </a:ext>
            </a:extLst>
          </p:cNvPr>
          <p:cNvCxnSpPr>
            <a:cxnSpLocks/>
          </p:cNvCxnSpPr>
          <p:nvPr/>
        </p:nvCxnSpPr>
        <p:spPr>
          <a:xfrm>
            <a:off x="5974318" y="2617436"/>
            <a:ext cx="528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C8A1A4F-BA96-C1D9-A8C5-78084942DDF4}"/>
              </a:ext>
            </a:extLst>
          </p:cNvPr>
          <p:cNvCxnSpPr>
            <a:cxnSpLocks/>
          </p:cNvCxnSpPr>
          <p:nvPr/>
        </p:nvCxnSpPr>
        <p:spPr>
          <a:xfrm>
            <a:off x="8164583" y="3057099"/>
            <a:ext cx="8292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64A1EB0-5998-CA2A-725F-86210F3E1BD4}"/>
              </a:ext>
            </a:extLst>
          </p:cNvPr>
          <p:cNvSpPr/>
          <p:nvPr/>
        </p:nvSpPr>
        <p:spPr>
          <a:xfrm>
            <a:off x="883695" y="3923731"/>
            <a:ext cx="1447805" cy="81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 Query</a:t>
            </a:r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455BD40-F82A-36F9-5256-DC66994C95A6}"/>
              </a:ext>
            </a:extLst>
          </p:cNvPr>
          <p:cNvCxnSpPr/>
          <p:nvPr/>
        </p:nvCxnSpPr>
        <p:spPr>
          <a:xfrm>
            <a:off x="4201240" y="2906973"/>
            <a:ext cx="4321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9F91C6D-FEB9-ED49-6349-4FFF0FF93E8A}"/>
              </a:ext>
            </a:extLst>
          </p:cNvPr>
          <p:cNvCxnSpPr>
            <a:cxnSpLocks/>
            <a:stCxn id="23" idx="6"/>
          </p:cNvCxnSpPr>
          <p:nvPr/>
        </p:nvCxnSpPr>
        <p:spPr>
          <a:xfrm flipV="1">
            <a:off x="2331500" y="4329751"/>
            <a:ext cx="4981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4BE0F3D-5F80-DF54-8CCA-46DFC5A72354}"/>
              </a:ext>
            </a:extLst>
          </p:cNvPr>
          <p:cNvCxnSpPr/>
          <p:nvPr/>
        </p:nvCxnSpPr>
        <p:spPr>
          <a:xfrm>
            <a:off x="4201240" y="4329751"/>
            <a:ext cx="23019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7192365-659F-8503-3881-35CDB6C41B08}"/>
              </a:ext>
            </a:extLst>
          </p:cNvPr>
          <p:cNvCxnSpPr/>
          <p:nvPr/>
        </p:nvCxnSpPr>
        <p:spPr>
          <a:xfrm>
            <a:off x="8164583" y="4455994"/>
            <a:ext cx="8292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Graphic 52" descr="Brain in head with solid fill">
            <a:extLst>
              <a:ext uri="{FF2B5EF4-FFF2-40B4-BE49-F238E27FC236}">
                <a16:creationId xmlns:a16="http://schemas.microsoft.com/office/drawing/2014/main" id="{83CAB3E7-3C90-7098-9DB2-9B2052BF7F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67387" y="2190465"/>
            <a:ext cx="914400" cy="914400"/>
          </a:xfrm>
          <a:prstGeom prst="rect">
            <a:avLst/>
          </a:prstGeom>
        </p:spPr>
      </p:pic>
      <p:pic>
        <p:nvPicPr>
          <p:cNvPr id="55" name="Graphic 54" descr="Document with solid fill">
            <a:extLst>
              <a:ext uri="{FF2B5EF4-FFF2-40B4-BE49-F238E27FC236}">
                <a16:creationId xmlns:a16="http://schemas.microsoft.com/office/drawing/2014/main" id="{B29C3FAB-4ECF-996F-B9E7-58D1FAF370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0699" y="1605317"/>
            <a:ext cx="914400" cy="914400"/>
          </a:xfrm>
          <a:prstGeom prst="rect">
            <a:avLst/>
          </a:prstGeom>
        </p:spPr>
      </p:pic>
      <p:pic>
        <p:nvPicPr>
          <p:cNvPr id="57" name="Graphic 56" descr="Female Profile with solid fill">
            <a:extLst>
              <a:ext uri="{FF2B5EF4-FFF2-40B4-BE49-F238E27FC236}">
                <a16:creationId xmlns:a16="http://schemas.microsoft.com/office/drawing/2014/main" id="{EBBB8E57-41E2-DFF0-DBFC-205FAAAA63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3190163"/>
            <a:ext cx="914400" cy="914400"/>
          </a:xfrm>
          <a:prstGeom prst="rect">
            <a:avLst/>
          </a:prstGeom>
        </p:spPr>
      </p:pic>
      <p:pic>
        <p:nvPicPr>
          <p:cNvPr id="59" name="Graphic 58" descr="Chat bubble with solid fill">
            <a:extLst>
              <a:ext uri="{FF2B5EF4-FFF2-40B4-BE49-F238E27FC236}">
                <a16:creationId xmlns:a16="http://schemas.microsoft.com/office/drawing/2014/main" id="{EB637316-1D36-F84F-A432-7B748BA043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53832" y="3343700"/>
            <a:ext cx="914400" cy="914400"/>
          </a:xfrm>
          <a:prstGeom prst="rect">
            <a:avLst/>
          </a:prstGeom>
        </p:spPr>
      </p:pic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818DAFF-7926-4B5D-BD92-E591EBE5246F}"/>
              </a:ext>
            </a:extLst>
          </p:cNvPr>
          <p:cNvCxnSpPr>
            <a:stCxn id="2" idx="3"/>
          </p:cNvCxnSpPr>
          <p:nvPr/>
        </p:nvCxnSpPr>
        <p:spPr>
          <a:xfrm flipV="1">
            <a:off x="2538484" y="2596486"/>
            <a:ext cx="2911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4EA919B-1665-56AE-29B7-9B8027FD758D}"/>
              </a:ext>
            </a:extLst>
          </p:cNvPr>
          <p:cNvCxnSpPr>
            <a:stCxn id="11" idx="3"/>
          </p:cNvCxnSpPr>
          <p:nvPr/>
        </p:nvCxnSpPr>
        <p:spPr>
          <a:xfrm flipV="1">
            <a:off x="10655300" y="3800900"/>
            <a:ext cx="43350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CB2CE24-23D9-4D03-C0AE-324BCE80CEE6}"/>
              </a:ext>
            </a:extLst>
          </p:cNvPr>
          <p:cNvSpPr txBox="1"/>
          <p:nvPr/>
        </p:nvSpPr>
        <p:spPr>
          <a:xfrm>
            <a:off x="10856794" y="4258100"/>
            <a:ext cx="1207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RAG Response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717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3EE1B8-2446-2DF7-962B-DB92A9420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51179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FLoW</a:t>
            </a:r>
            <a:r>
              <a:rPr lang="en-US" dirty="0"/>
              <a:t>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5A3497-079A-3258-D681-B00DC23DA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FCB1CA-92D4-EACA-46E4-D8C553B38A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3504" y="1901679"/>
            <a:ext cx="9771796" cy="3277646"/>
          </a:xfrm>
        </p:spPr>
        <p:txBody>
          <a:bodyPr>
            <a:normAutofit/>
          </a:bodyPr>
          <a:lstStyle/>
          <a:p>
            <a:r>
              <a:rPr lang="en-US" b="1" dirty="0"/>
              <a:t>Below is the FLOW of the Copilot: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Generated Policy &amp; Claims Knowledge Base PDF.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Read Data from PDS to </a:t>
            </a:r>
            <a:r>
              <a:rPr lang="en-US" dirty="0" err="1"/>
              <a:t>pdf_text</a:t>
            </a:r>
            <a:r>
              <a:rPr lang="en-US" dirty="0"/>
              <a:t> List and chunked the data.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Created word embeddings using OpenAI embedding mode: text-embedding-3-small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Saved the word vectors into FAISS and the text to </a:t>
            </a:r>
            <a:r>
              <a:rPr lang="en-US" dirty="0" err="1"/>
              <a:t>Metadata.json</a:t>
            </a:r>
            <a:r>
              <a:rPr lang="en-US" dirty="0"/>
              <a:t> file.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Calling Open AI LLM Model gpt-5-mini model to use as LLM for this Copilot.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Once user enters the Query the query is converted to vectors and the matching data chucks are passed as context to LLM.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LLM then curates the response based on the retrieved data and provide the response to the User.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203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741DD-9A1B-F636-68CB-E8BB4C6D0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093976"/>
            <a:ext cx="10360152" cy="1270197"/>
          </a:xfrm>
        </p:spPr>
        <p:txBody>
          <a:bodyPr>
            <a:normAutofit/>
          </a:bodyPr>
          <a:lstStyle/>
          <a:p>
            <a:r>
              <a:rPr lang="en-GB" sz="2400" dirty="0"/>
              <a:t>User </a:t>
            </a:r>
            <a:r>
              <a:rPr lang="en-GB" sz="2400" dirty="0" err="1"/>
              <a:t>QuerY</a:t>
            </a:r>
            <a:r>
              <a:rPr lang="en-GB" sz="2400" dirty="0"/>
              <a:t> and </a:t>
            </a:r>
            <a:r>
              <a:rPr lang="en-GB" sz="2400" dirty="0" err="1"/>
              <a:t>CopAc</a:t>
            </a:r>
            <a:r>
              <a:rPr lang="en-GB" sz="2400" dirty="0"/>
              <a:t> Response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0975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ABFC16-251A-1872-8EB9-094CC65E9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997" y="576618"/>
            <a:ext cx="10360152" cy="777922"/>
          </a:xfrm>
        </p:spPr>
        <p:txBody>
          <a:bodyPr/>
          <a:lstStyle/>
          <a:p>
            <a:r>
              <a:rPr lang="en-GB" dirty="0"/>
              <a:t>Q</a:t>
            </a:r>
            <a:r>
              <a:rPr lang="en-US" dirty="0"/>
              <a:t>uery-1: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96EDD5-BA62-85BC-6A64-6660070AE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6F2F6D-1199-9A2A-1B9F-3FD8EBB307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1835625"/>
            <a:ext cx="3937379" cy="491319"/>
          </a:xfrm>
        </p:spPr>
        <p:txBody>
          <a:bodyPr/>
          <a:lstStyle/>
          <a:p>
            <a:r>
              <a:rPr lang="en-US" b="1" dirty="0"/>
              <a:t>Your Query: How to raise a claim?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6FA9F-F321-57AB-5060-68D76280563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4399" y="2620371"/>
            <a:ext cx="10215349" cy="3809909"/>
          </a:xfrm>
        </p:spPr>
        <p:txBody>
          <a:bodyPr>
            <a:normAutofit/>
          </a:bodyPr>
          <a:lstStyle/>
          <a:p>
            <a:r>
              <a:rPr lang="en-US" b="1" dirty="0" err="1"/>
              <a:t>Copilot_response</a:t>
            </a:r>
            <a:r>
              <a:rPr lang="en-US" dirty="0"/>
              <a:t>: Steps to raise a claim</a:t>
            </a:r>
          </a:p>
          <a:p>
            <a:r>
              <a:rPr lang="en-US" dirty="0"/>
              <a:t> 1. Notify the insurer or TPA (Third Party Administrator) as soon as possible. </a:t>
            </a:r>
          </a:p>
          <a:p>
            <a:r>
              <a:rPr lang="en-US" dirty="0"/>
              <a:t>2. Submit the claim form (online or offline). </a:t>
            </a:r>
          </a:p>
          <a:p>
            <a:r>
              <a:rPr lang="en-US" dirty="0"/>
              <a:t>3. Provide the required documents. </a:t>
            </a:r>
          </a:p>
          <a:p>
            <a:r>
              <a:rPr lang="en-US" dirty="0"/>
              <a:t>4. Undergo the claim assessment. </a:t>
            </a:r>
          </a:p>
          <a:p>
            <a:r>
              <a:rPr lang="en-US" dirty="0"/>
              <a:t>5. Receive the approval or rejection decision. </a:t>
            </a:r>
          </a:p>
          <a:p>
            <a:r>
              <a:rPr lang="en-US" dirty="0"/>
              <a:t>Types of claim settlements - Cashless claims: Direct settlement with a network hospital. - Reimbursement claims: You pay upfront and claim the costs later. Note: Make sure your policy is active and any waiting period (if applicable) has been completed.</a:t>
            </a:r>
          </a:p>
        </p:txBody>
      </p:sp>
    </p:spTree>
    <p:extLst>
      <p:ext uri="{BB962C8B-B14F-4D97-AF65-F5344CB8AC3E}">
        <p14:creationId xmlns:p14="http://schemas.microsoft.com/office/powerpoint/2010/main" val="1288140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517C7-2E48-5AFA-EADD-D7AAADF65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258558-E332-D893-8188-7ECEEA940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777922"/>
          </a:xfrm>
        </p:spPr>
        <p:txBody>
          <a:bodyPr/>
          <a:lstStyle/>
          <a:p>
            <a:r>
              <a:rPr lang="en-GB" dirty="0"/>
              <a:t>Q</a:t>
            </a:r>
            <a:r>
              <a:rPr lang="en-US" dirty="0"/>
              <a:t>uery-2: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3B7A09-909C-F2A3-EEC7-DFF3D86F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33D8CA-7618-B8F8-A446-A0CC1F7981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026694"/>
            <a:ext cx="6237027" cy="539086"/>
          </a:xfrm>
        </p:spPr>
        <p:txBody>
          <a:bodyPr/>
          <a:lstStyle/>
          <a:p>
            <a:r>
              <a:rPr lang="en-US" b="1" dirty="0"/>
              <a:t>Your Query: How to raise a cash-less claim?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FD7D0-022C-34C4-12D8-25A20EBF3A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23582" y="2647667"/>
            <a:ext cx="9519314" cy="2825086"/>
          </a:xfrm>
        </p:spPr>
        <p:txBody>
          <a:bodyPr>
            <a:normAutofit/>
          </a:bodyPr>
          <a:lstStyle/>
          <a:p>
            <a:r>
              <a:rPr lang="en-US" b="1" dirty="0" err="1"/>
              <a:t>Copilot_response</a:t>
            </a:r>
            <a:r>
              <a:rPr lang="en-US" b="1" dirty="0"/>
              <a:t>:</a:t>
            </a:r>
            <a:r>
              <a:rPr lang="en-US" dirty="0"/>
              <a:t> Steps to raise a cashless claim (using only the provided context) </a:t>
            </a:r>
          </a:p>
          <a:p>
            <a:pPr marL="342900" indent="-342900">
              <a:buAutoNum type="arabicPeriod"/>
            </a:pPr>
            <a:r>
              <a:rPr lang="en-US" dirty="0"/>
              <a:t>Use a network hospital — cashless settlement is available only at network hospitals. </a:t>
            </a:r>
          </a:p>
          <a:p>
            <a:pPr marL="342900" indent="-342900">
              <a:buAutoNum type="arabicPeriod"/>
            </a:pPr>
            <a:r>
              <a:rPr lang="en-US" dirty="0"/>
              <a:t> Notify the insurer or TPA (Third Party Administrator) as soon as possible. </a:t>
            </a:r>
          </a:p>
          <a:p>
            <a:pPr marL="342900" indent="-342900">
              <a:buAutoNum type="arabicPeriod"/>
            </a:pPr>
            <a:r>
              <a:rPr lang="en-US" dirty="0"/>
              <a:t> Submit the claim form (online or offline) to the insurer/TPA or hospital as instructed. </a:t>
            </a:r>
          </a:p>
          <a:p>
            <a:pPr marL="342900" indent="-342900">
              <a:buAutoNum type="arabicPeriod"/>
            </a:pPr>
            <a:r>
              <a:rPr lang="en-US" dirty="0"/>
              <a:t> Provide the required documents. </a:t>
            </a:r>
          </a:p>
        </p:txBody>
      </p:sp>
    </p:spTree>
    <p:extLst>
      <p:ext uri="{BB962C8B-B14F-4D97-AF65-F5344CB8AC3E}">
        <p14:creationId xmlns:p14="http://schemas.microsoft.com/office/powerpoint/2010/main" val="51992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9DFF4-B284-3315-7CDC-A93C5431F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A334CB-BB30-EDA0-35A4-D5DAF9830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898" y="610736"/>
            <a:ext cx="10360152" cy="777922"/>
          </a:xfrm>
        </p:spPr>
        <p:txBody>
          <a:bodyPr/>
          <a:lstStyle/>
          <a:p>
            <a:r>
              <a:rPr lang="en-GB" dirty="0"/>
              <a:t>Q</a:t>
            </a:r>
            <a:r>
              <a:rPr lang="en-US" dirty="0"/>
              <a:t>uery-3: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2C09E2-83C2-8425-59B9-95630F9FD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378478-D187-3C45-982C-EB0A65CE51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3582" y="1533955"/>
            <a:ext cx="6905767" cy="532262"/>
          </a:xfrm>
        </p:spPr>
        <p:txBody>
          <a:bodyPr/>
          <a:lstStyle/>
          <a:p>
            <a:r>
              <a:rPr lang="en-US" b="1" dirty="0"/>
              <a:t>Your Query: What documents do I need for a car accident claim?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F93A46-9BCD-ECCF-9F31-96E500AB4DB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85774" y="2279177"/>
            <a:ext cx="10058400" cy="33437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err="1"/>
              <a:t>Copilot_response</a:t>
            </a:r>
            <a:r>
              <a:rPr lang="en-US" b="1" dirty="0"/>
              <a:t>: </a:t>
            </a:r>
          </a:p>
          <a:p>
            <a:r>
              <a:rPr lang="en-US" dirty="0"/>
              <a:t>Typical documents (for an accident claim) from the provided policy context: </a:t>
            </a:r>
          </a:p>
          <a:p>
            <a:pPr marL="285750" indent="-285750">
              <a:buFontTx/>
              <a:buChar char="-"/>
            </a:pPr>
            <a:r>
              <a:rPr lang="en-US" dirty="0"/>
              <a:t>Duly filled claim form </a:t>
            </a:r>
          </a:p>
          <a:p>
            <a:pPr marL="285750" indent="-285750">
              <a:buFontTx/>
              <a:buChar char="-"/>
            </a:pPr>
            <a:r>
              <a:rPr lang="en-US" dirty="0"/>
              <a:t> Hospital bills and receipts </a:t>
            </a:r>
          </a:p>
          <a:p>
            <a:pPr marL="285750" indent="-285750">
              <a:buFontTx/>
              <a:buChar char="-"/>
            </a:pPr>
            <a:r>
              <a:rPr lang="en-US" dirty="0"/>
              <a:t> Discharge summary </a:t>
            </a:r>
          </a:p>
          <a:p>
            <a:r>
              <a:rPr lang="en-US" dirty="0"/>
              <a:t>Important procedural notes from the same context: </a:t>
            </a:r>
          </a:p>
          <a:p>
            <a:pPr marL="285750" indent="-285750">
              <a:buFontTx/>
              <a:buChar char="-"/>
            </a:pPr>
            <a:r>
              <a:rPr lang="en-US" dirty="0"/>
              <a:t>Intimate the claim within 24–48 hours of hospitalization. </a:t>
            </a:r>
          </a:p>
          <a:p>
            <a:pPr marL="285750" indent="-285750">
              <a:buFontTx/>
              <a:buChar char="-"/>
            </a:pPr>
            <a:r>
              <a:rPr lang="en-US" dirty="0"/>
              <a:t>Submit documents within 7–15 days after discharge. </a:t>
            </a:r>
          </a:p>
          <a:p>
            <a:pPr marL="285750" indent="-285750">
              <a:buFontTx/>
              <a:buChar char="-"/>
            </a:pPr>
            <a:r>
              <a:rPr lang="en-US" dirty="0"/>
              <a:t>Missing documents may delay or lead to rejection of the claim. </a:t>
            </a:r>
          </a:p>
          <a:p>
            <a:pPr marL="285750" indent="-285750">
              <a:buFontTx/>
              <a:buChar char="-"/>
            </a:pPr>
            <a:r>
              <a:rPr lang="en-US" dirty="0"/>
              <a:t>Claim processing typically takes 15–30 working days; reimbursement (after approval) is settled within 7–10 days.</a:t>
            </a:r>
          </a:p>
        </p:txBody>
      </p:sp>
    </p:spTree>
    <p:extLst>
      <p:ext uri="{BB962C8B-B14F-4D97-AF65-F5344CB8AC3E}">
        <p14:creationId xmlns:p14="http://schemas.microsoft.com/office/powerpoint/2010/main" val="1702236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457EB0-5F4A-BC62-ACDA-C1858459B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655093"/>
          </a:xfrm>
        </p:spPr>
        <p:txBody>
          <a:bodyPr/>
          <a:lstStyle/>
          <a:p>
            <a:r>
              <a:rPr lang="en-US" dirty="0"/>
              <a:t>Conclusion: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0D553D-0E85-61CD-BAC7-583390CC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0017A9-4947-4AC8-411C-6F37704EDF0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12664" y="1937982"/>
            <a:ext cx="6356172" cy="3541593"/>
          </a:xfrm>
        </p:spPr>
        <p:txBody>
          <a:bodyPr/>
          <a:lstStyle/>
          <a:p>
            <a:r>
              <a:rPr lang="en-US" b="1" u="sng" dirty="0"/>
              <a:t>COPAC Copilot/AI Assistant – Key Benefits: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Reduced work Load for Call Centers.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Accelerates the Claim process.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Reduce long waiting for Customer as this Copilot can assist with raising the right claim.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Improves the first‑time-right submissions.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Provides Rates, Limits, Required Documents.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Outlines Claim submission steps &amp; timelines</a:t>
            </a:r>
          </a:p>
          <a:p>
            <a:endParaRPr lang="en-US" dirty="0"/>
          </a:p>
        </p:txBody>
      </p:sp>
      <p:pic>
        <p:nvPicPr>
          <p:cNvPr id="9" name="Picture 8" descr="The image depicts a cheerful, cartoon robot mascot wearing headphones, holding a checklist, and surrounded by various documents and awards.&#10;&#10;AI-generated content may be incorrect.">
            <a:extLst>
              <a:ext uri="{FF2B5EF4-FFF2-40B4-BE49-F238E27FC236}">
                <a16:creationId xmlns:a16="http://schemas.microsoft.com/office/drawing/2014/main" id="{3339CF1D-8A39-2577-F2A0-098D57508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40" y="1785925"/>
            <a:ext cx="3667152" cy="328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04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542CE-B1FF-F5F8-B080-90809092D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5788152" cy="4992624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6F0BF0-B107-5FCC-4DFD-8E4AD8FDA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3600" y="914400"/>
            <a:ext cx="5330952" cy="4992624"/>
          </a:xfrm>
        </p:spPr>
        <p:txBody>
          <a:bodyPr/>
          <a:lstStyle/>
          <a:p>
            <a:r>
              <a:rPr lang="en-US" dirty="0"/>
              <a:t>Sahana Vallem</a:t>
            </a:r>
          </a:p>
          <a:p>
            <a:r>
              <a:rPr lang="en-US" dirty="0"/>
              <a:t>SAP ID: 51813822</a:t>
            </a:r>
          </a:p>
          <a:p>
            <a:r>
              <a:rPr lang="en-US" dirty="0" err="1"/>
              <a:t>EmailID</a:t>
            </a:r>
            <a:r>
              <a:rPr lang="en-US" dirty="0"/>
              <a:t>: Sahana.Vallem@HCLTech.com</a:t>
            </a:r>
          </a:p>
        </p:txBody>
      </p:sp>
      <p:pic>
        <p:nvPicPr>
          <p:cNvPr id="5" name="Picture 4" descr="Lotus water lily flower close-up">
            <a:extLst>
              <a:ext uri="{FF2B5EF4-FFF2-40B4-BE49-F238E27FC236}">
                <a16:creationId xmlns:a16="http://schemas.microsoft.com/office/drawing/2014/main" id="{A57F8A3C-D093-9DBE-AF7F-1D48FC3AC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592" y="0"/>
            <a:ext cx="6012960" cy="440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03676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TM77929380">
      <a:dk1>
        <a:srgbClr val="000000"/>
      </a:dk1>
      <a:lt1>
        <a:srgbClr val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7929380_win32_SD_v4" id="{FF6791CE-8A46-4E30-BBEB-5F2323043503}" vid="{107E73D9-B12F-464E-997E-142EF79586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F23494-F630-4E01-81EA-AA2F2975971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E76CE1C2-24FF-4125-B61C-AD39973FCD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A7B19D-87CC-4C2C-AA8E-9627D3BFD4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Depth design</Template>
  <TotalTime>461</TotalTime>
  <Words>808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Corbel</vt:lpstr>
      <vt:lpstr>Wingdings</vt:lpstr>
      <vt:lpstr>Depth</vt:lpstr>
      <vt:lpstr>COPAC: Policy &amp; Caims copilot </vt:lpstr>
      <vt:lpstr>Problem Statement:</vt:lpstr>
      <vt:lpstr>Project Goal:</vt:lpstr>
      <vt:lpstr>Solution Overview:</vt:lpstr>
      <vt:lpstr>COPAC(Co-pilot) Architecture:</vt:lpstr>
      <vt:lpstr>FLoW:</vt:lpstr>
      <vt:lpstr>User QuerY and CopAc Response</vt:lpstr>
      <vt:lpstr>Query-1:</vt:lpstr>
      <vt:lpstr>Query-2:</vt:lpstr>
      <vt:lpstr>Query-3:</vt:lpstr>
      <vt:lpstr>Conclusion: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sahanameka7@gmail.com</dc:creator>
  <cp:lastModifiedBy>sahanameka7@gmail.com</cp:lastModifiedBy>
  <cp:revision>9</cp:revision>
  <dcterms:created xsi:type="dcterms:W3CDTF">2026-07-27T23:10:08Z</dcterms:created>
  <dcterms:modified xsi:type="dcterms:W3CDTF">2026-07-28T06:56:41Z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Depth:8</vt:lpwstr>
  </property>
  <property fmtid="{D5CDD505-2E9C-101B-9397-08002B2CF9AE}" pid="5" name="ClassificationContentMarkingFooterText">
    <vt:lpwstr>Classified as Microsoft Confidential</vt:lpwstr>
  </property>
</Properties>
</file>